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62d78fc9ce4bb5" /><Relationship Type="http://schemas.openxmlformats.org/officeDocument/2006/relationships/extended-properties" Target="/docProps/app.xml" Id="Rc656e9a23cf24be5" /><Relationship Type="http://schemas.openxmlformats.org/officeDocument/2006/relationships/officeDocument" Target="/ppt/presentation.xml" Id="R8254a3b2964b43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34c8f447c740a7"/>
  </p:sldMasterIdLst>
  <p:notesMasterIdLst>
    <p:notesMasterId xmlns:r="http://schemas.openxmlformats.org/officeDocument/2006/relationships" r:id="R12d70a0412d04d55"/>
  </p:notesMasterIdLst>
  <p:sldIdLst>
    <p:sldId xmlns:r="http://schemas.openxmlformats.org/officeDocument/2006/relationships" id="256" r:id="R24c4e0342cee4f32"/>
    <p:sldId xmlns:r="http://schemas.openxmlformats.org/officeDocument/2006/relationships" id="257" r:id="R51bfb81966be4ed4"/>
    <p:sldId xmlns:r="http://schemas.openxmlformats.org/officeDocument/2006/relationships" id="258" r:id="R8e658f4a809c49a4"/>
    <p:sldId xmlns:r="http://schemas.openxmlformats.org/officeDocument/2006/relationships" id="259" r:id="R76fc84a522674403"/>
    <p:sldId xmlns:r="http://schemas.openxmlformats.org/officeDocument/2006/relationships" id="260" r:id="R433428fdbfac4cdc"/>
    <p:sldId xmlns:r="http://schemas.openxmlformats.org/officeDocument/2006/relationships" id="261" r:id="R1568f35ab6334b4f"/>
    <p:sldId xmlns:r="http://schemas.openxmlformats.org/officeDocument/2006/relationships" id="262" r:id="R772bb420c6c6466b"/>
    <p:sldId xmlns:r="http://schemas.openxmlformats.org/officeDocument/2006/relationships" id="263" r:id="Rba0fda4583a8416f"/>
    <p:sldId xmlns:r="http://schemas.openxmlformats.org/officeDocument/2006/relationships" id="264" r:id="Ree89063f17cb4a79"/>
    <p:sldId xmlns:r="http://schemas.openxmlformats.org/officeDocument/2006/relationships" id="265" r:id="R10b192f7c29d42f1"/>
    <p:sldId xmlns:r="http://schemas.openxmlformats.org/officeDocument/2006/relationships" id="266" r:id="R2187f80a2187450c"/>
    <p:sldId xmlns:r="http://schemas.openxmlformats.org/officeDocument/2006/relationships" id="267" r:id="R71044e987aed45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4c8f447c740a7" /><Relationship Type="http://schemas.openxmlformats.org/officeDocument/2006/relationships/theme" Target="/ppt/theme/theme1.xml" Id="R4e30a1ded5114666" /><Relationship Type="http://schemas.openxmlformats.org/officeDocument/2006/relationships/notesMaster" Target="/ppt/notesMasters/notesMaster1.xml" Id="R12d70a0412d04d55" /><Relationship Type="http://schemas.openxmlformats.org/officeDocument/2006/relationships/presProps" Target="/ppt/presProps.xml" Id="R36c2ba6c679a4c4e" /><Relationship Type="http://schemas.openxmlformats.org/officeDocument/2006/relationships/viewProps" Target="/ppt/viewProps.xml" Id="Rf4b1290111ab404a" /><Relationship Type="http://schemas.openxmlformats.org/officeDocument/2006/relationships/tableStyles" Target="/ppt/tableStyles.xml" Id="Rc63d19ebff8f4c5d" /><Relationship Type="http://schemas.openxmlformats.org/officeDocument/2006/relationships/slide" Target="/ppt/slides/slide1.xml" Id="R24c4e0342cee4f32" /><Relationship Type="http://schemas.openxmlformats.org/officeDocument/2006/relationships/slide" Target="/ppt/slides/slide2.xml" Id="R51bfb81966be4ed4" /><Relationship Type="http://schemas.openxmlformats.org/officeDocument/2006/relationships/slide" Target="/ppt/slides/slide3.xml" Id="R8e658f4a809c49a4" /><Relationship Type="http://schemas.openxmlformats.org/officeDocument/2006/relationships/slide" Target="/ppt/slides/slide4.xml" Id="R76fc84a522674403" /><Relationship Type="http://schemas.openxmlformats.org/officeDocument/2006/relationships/slide" Target="/ppt/slides/slide5.xml" Id="R433428fdbfac4cdc" /><Relationship Type="http://schemas.openxmlformats.org/officeDocument/2006/relationships/slide" Target="/ppt/slides/slide6.xml" Id="R1568f35ab6334b4f" /><Relationship Type="http://schemas.openxmlformats.org/officeDocument/2006/relationships/slide" Target="/ppt/slides/slide7.xml" Id="R772bb420c6c6466b" /><Relationship Type="http://schemas.openxmlformats.org/officeDocument/2006/relationships/slide" Target="/ppt/slides/slide8.xml" Id="Rba0fda4583a8416f" /><Relationship Type="http://schemas.openxmlformats.org/officeDocument/2006/relationships/slide" Target="/ppt/slides/slide9.xml" Id="Ree89063f17cb4a79" /><Relationship Type="http://schemas.openxmlformats.org/officeDocument/2006/relationships/slide" Target="/ppt/slides/slide10.xml" Id="R10b192f7c29d42f1" /><Relationship Type="http://schemas.openxmlformats.org/officeDocument/2006/relationships/slide" Target="/ppt/slides/slide11.xml" Id="R2187f80a2187450c" /><Relationship Type="http://schemas.openxmlformats.org/officeDocument/2006/relationships/slide" Target="/ppt/slides/slide12.xml" Id="R71044e987aed45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33142e01a944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4139f08bf34827" /><Relationship Type="http://schemas.openxmlformats.org/officeDocument/2006/relationships/notesMaster" Target="/ppt/notesMasters/notesMaster1.xml" Id="Rb3cedaaf754144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51ccc75d1d40f4" /><Relationship Type="http://schemas.openxmlformats.org/officeDocument/2006/relationships/notesMaster" Target="/ppt/notesMasters/notesMaster1.xml" Id="R512e5878c8e544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076339df2f4170" /><Relationship Type="http://schemas.openxmlformats.org/officeDocument/2006/relationships/notesMaster" Target="/ppt/notesMasters/notesMaster1.xml" Id="Rb6f7c360e62f4f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32fbb36b4b41e7" /><Relationship Type="http://schemas.openxmlformats.org/officeDocument/2006/relationships/notesMaster" Target="/ppt/notesMasters/notesMaster1.xml" Id="R56660bf7a9fd4d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3a3ddf64e340c4" /><Relationship Type="http://schemas.openxmlformats.org/officeDocument/2006/relationships/notesMaster" Target="/ppt/notesMasters/notesMaster1.xml" Id="Rb21db15d047649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98e19491b94e6f" /><Relationship Type="http://schemas.openxmlformats.org/officeDocument/2006/relationships/notesMaster" Target="/ppt/notesMasters/notesMaster1.xml" Id="Rfcaed884eb5644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67bb22f36f4566" /><Relationship Type="http://schemas.openxmlformats.org/officeDocument/2006/relationships/notesMaster" Target="/ppt/notesMasters/notesMaster1.xml" Id="Rfa72a891613447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094ac7a1894c04" /><Relationship Type="http://schemas.openxmlformats.org/officeDocument/2006/relationships/notesMaster" Target="/ppt/notesMasters/notesMaster1.xml" Id="R629c525abe3346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0348118ef04683" /><Relationship Type="http://schemas.openxmlformats.org/officeDocument/2006/relationships/notesMaster" Target="/ppt/notesMasters/notesMaster1.xml" Id="R5e73b734c3304c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422eeb75eb444a" /><Relationship Type="http://schemas.openxmlformats.org/officeDocument/2006/relationships/notesMaster" Target="/ppt/notesMasters/notesMaster1.xml" Id="R03d82fbf80f245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ff309ad5b94378" /><Relationship Type="http://schemas.openxmlformats.org/officeDocument/2006/relationships/notesMaster" Target="/ppt/notesMasters/notesMaster1.xml" Id="Rad7fb35c468940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d39fd088234ce9" /><Relationship Type="http://schemas.openxmlformats.org/officeDocument/2006/relationships/notesMaster" Target="/ppt/notesMasters/notesMaster1.xml" Id="R17dc91c1aba14b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3ccf2da9548c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5aa8fc9e1a3466f" /><Relationship Type="http://schemas.openxmlformats.org/officeDocument/2006/relationships/slideLayout" Target="/ppt/slideLayouts/slideLayout2.xml" Id="Rc2b4861ecca149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b4861ecca149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5b008216f34fbd" /><Relationship Type="http://schemas.openxmlformats.org/officeDocument/2006/relationships/notesSlide" Target="/ppt/notesSlides/notesSlide1.xml" Id="R289d986dba8b4c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31d78c2c52441d" /><Relationship Type="http://schemas.openxmlformats.org/officeDocument/2006/relationships/notesSlide" Target="/ppt/notesSlides/notesSlide2.xml" Id="R274fe3c71ade44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12e49fe53748da" /><Relationship Type="http://schemas.openxmlformats.org/officeDocument/2006/relationships/notesSlide" Target="/ppt/notesSlides/notesSlide3.xml" Id="R677aa9f455a24e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c37c88f3f84f3a" /><Relationship Type="http://schemas.openxmlformats.org/officeDocument/2006/relationships/notesSlide" Target="/ppt/notesSlides/notesSlide4.xml" Id="R5fd766a4469c44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dff084e79d4284" /><Relationship Type="http://schemas.openxmlformats.org/officeDocument/2006/relationships/notesSlide" Target="/ppt/notesSlides/notesSlide5.xml" Id="R3079c10093c642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5d2485bd454b90" /><Relationship Type="http://schemas.openxmlformats.org/officeDocument/2006/relationships/notesSlide" Target="/ppt/notesSlides/notesSlide6.xml" Id="R89adaca0a99b45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9066a532aa40f1" /><Relationship Type="http://schemas.openxmlformats.org/officeDocument/2006/relationships/notesSlide" Target="/ppt/notesSlides/notesSlide7.xml" Id="R4b14c5c134214d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7638855bcd4dab" /><Relationship Type="http://schemas.openxmlformats.org/officeDocument/2006/relationships/notesSlide" Target="/ppt/notesSlides/notesSlide8.xml" Id="R4826cb39927c48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b4ea60393b47a4" /><Relationship Type="http://schemas.openxmlformats.org/officeDocument/2006/relationships/notesSlide" Target="/ppt/notesSlides/notesSlide9.xml" Id="R61d05207269d48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9d51ecbdf0401f" /><Relationship Type="http://schemas.openxmlformats.org/officeDocument/2006/relationships/notesSlide" Target="/ppt/notesSlides/notesSlide10.xml" Id="R29ef635618fb4e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bf5847ac444524" /><Relationship Type="http://schemas.openxmlformats.org/officeDocument/2006/relationships/notesSlide" Target="/ppt/notesSlides/notesSlide11.xml" Id="R2a9fc561db2e4f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557c7531df4ee3" /><Relationship Type="http://schemas.openxmlformats.org/officeDocument/2006/relationships/notesSlide" Target="/ppt/notesSlides/notesSlide12.xml" Id="R4c23e61ccfab47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7B8167-2419-42CA-A097-0FFDBFAF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2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DE5DA-65C6-4638-9E20-FA95C603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-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456">
              <a:alpha val="1333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445A3-8EF2-4D36-B65F-E36CBC79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476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D6AF">
              <a:alpha val="784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D8EC0-41FC-43E6-A312-8407ED78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4619A-3490-42DB-9647-FFF038D9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PULSEOPS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42910-972C-4B1F-8CEA-428DD3C6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Ayush Prabhakar | CMSI 694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763D3-A0B1-4B1D-B50A-0F615D6E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3143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358F9-5DBB-4243-87B7-062F0DB8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Rate limiting -&gt; observability -&gt; AI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254D0-4F1A-4315-A879-1CCABC27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FINAL PROJECT PRESENTATION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3645F-4ACC-4A0A-97E4-36FCD6D7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858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From rate limiting to an AI-native security operations platform.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0710C-AB1A-4D91-9E99-4658B41D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PulseOps is the result of a semester-long scope evolution: a project that started with abusive traffic control and matured into a real-time operator workspace for telemetry, incident response, automation, and executive communication.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910B0-6768-48AF-BD17-9D0C1CEE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7124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B3047-4F33-4A9D-A2A9-99DF58E2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FFDA2-B036-43A8-8523-26750608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Presentation 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F82CB-A5E3-4038-A37E-304C2219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615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strongest story here is not just the final UI. It is the engineering journey that moved from one security feature to a coherent product system.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25CCC-7785-4C09-8531-C4C55B30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00150"/>
            <a:ext cx="3543300" cy="48006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E4326-A368-43E1-808E-C06B2EF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483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8758E-050B-440B-83A7-09466C50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47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DECK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A56FE-3C2E-4F3A-852D-60ACA7B8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11D6A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AFA6D-A520-428B-AF23-0C331106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62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Original project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EB1BE-D0BA-4AB1-B6AF-CCAA2B16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66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Begin with the honest starting point.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CA4E36-B1C6-4398-8347-26BE9E45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A7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38A7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282FE-2119-492A-980F-2F56023C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Why the scope had to evolve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581C3C-9925-43C6-A476-543AE683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Show the decision logic behind expansion.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5ABD7D-8EB8-41D1-A31C-86CA5774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099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2BF4B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2BF4B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773B10-625D-436B-BDB8-A40E4A11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37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System architecture and product surfaces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92F63-529A-4060-A78B-DF01532F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Explain what was actually built.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88CEB6-02EE-4223-89D9-4ABB4232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68D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868DF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982FDA-CB04-435C-A142-F108E1F3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19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Sprint 6 finalization and validation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9006EE-E90F-487C-A957-F22B70F9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24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Connect work to Jira and validation.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C7D519-BB6F-4792-997D-02D6C68C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815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6B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6B6B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F777DA-0198-490A-B2B6-88988B6E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05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Live demo sequence and future 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E86372-F137-428E-8B9C-9EB033B6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10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End with confidence and scale-up potential.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12CADD-8E72-48C7-8384-04B1C450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AE4F11-4089-4F75-BEF8-38BD6630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PulseOps | Honest project story + final product value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3B93E8-9F35-4B98-96B0-1BAC9EF7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817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433772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4CB20F-7AE3-488B-B895-6EB38BA4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2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67291-7656-4A28-B7B1-DFDC031B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-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456">
              <a:alpha val="1333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3CE88-B8EB-4239-9247-DEEC3809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476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D6AF">
              <a:alpha val="784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7135A-916A-4F91-9974-1807EAE3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A771E-B4A6-4849-AAFE-A49C96ED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PULSEOPS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F825D-6A20-4981-9E20-A3A45C34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CMSI 694 | Final Capstone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6CFFD-84B8-4481-A6B2-4DABACDA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ORIGINAL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2A56C-3DD7-4754-8EBF-C6E33B6F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28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project did not start as PulseOps.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AC4FB-39AE-45AA-A0A3-D0490994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638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It started as a narrower backend/security problem centered on rate limiting, suspicious traffic, and practical operator visibility.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37385-06BF-4120-A59E-DF882E08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5105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61519-0C5F-4AE8-8C38-16F9091E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338D7-7B55-4CE3-966E-83923504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Initial 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52343-AC30-4083-97BA-18DFDA11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26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Build a system that could surface abusive request patterns and make rate-limiting behavior visible.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F2BE3-8EFB-417C-9896-1D831FDB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EDBF1-F195-4859-AA3D-0783289F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411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Detect suspicious API behavior and blocked traffic patterns.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29425-1A79-4D2F-AB67-13C67D03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BF0F9-FA38-4587-92DB-212ED16C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411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Connect backend protection to operational visibility.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A22FD-2914-43E3-AF78-F9D659BD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FA16D-A538-41BA-BFEB-2C270444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411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Create a technically grounded capstone with real system value.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BFA9E5-0C52-4272-BA98-96D0FE4C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71800"/>
            <a:ext cx="5638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70744-C3A0-48C1-A756-9B7B0990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769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7621E-1B1C-49F6-81B6-489D3877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385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Why this was a strong starting 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4C1930-FD56-4612-9F19-16F7B720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D6A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D6AF"/>
                </a:solidFill>
                <a:latin typeface="Avenir Next"/>
                <a:ea typeface="Avenir Next"/>
                <a:cs typeface="Avenir Next"/>
              </a:rPr>
              <a:t>Security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B502C5-A89B-4415-8264-C06ED9BD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Rate limiting sits at the intersection of abuse prevention, platform safety, and reliability.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4A2243-0EA7-4958-A744-8D0AEDD5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A7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38A7FF"/>
                </a:solidFill>
                <a:latin typeface="Avenir Next"/>
                <a:ea typeface="Avenir Next"/>
                <a:cs typeface="Avenir Next"/>
              </a:rPr>
              <a:t>Engineering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19BBC-9976-4894-BEAD-DEF8415B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434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It requires backend logic, telemetry interpretation, and decision rules rather than static UI alone.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32B879-4220-4FFD-8B47-87D2BCE0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482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F4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2BF4B"/>
                </a:solidFill>
                <a:latin typeface="Avenir Next"/>
                <a:ea typeface="Avenir Next"/>
                <a:cs typeface="Avenir Next"/>
              </a:rPr>
              <a:t>Product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C34713-B9AD-4D2E-85C1-83DACDD5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482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It creates a natural question chain: what happened, why, what is affected, and what should someone do next?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82042F-C47B-4CB4-96D3-3B082393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39E00B-075A-457A-9D49-6B29C558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Original scope | rate limiting | suspicious traffic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9901F2-9E90-491B-956E-8DD8B796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817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00623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C343A0-A308-47F5-A1DF-B1E651AE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2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2D31D-7483-44F1-9111-51272D92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-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456">
              <a:alpha val="1333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42DC6-F1B5-46F4-9F6E-F27CE1F0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476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D6AF">
              <a:alpha val="784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8052B-81F6-4CB7-B05E-2DE34070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BCD35-5C9C-4F7E-B2BC-50FC19B0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PULSEOPS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BE2AE-D808-4198-BE2B-66EB6318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CMSI 694 | Final Capstone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70542-3320-4928-BBFA-589AB3C8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SCOPE EVOLUTION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CAB54-347B-4CE4-87F8-8FE24BAD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Why the scope changed over the semester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D53E7-ADCC-4747-BAAC-3F5A9540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The project expanded because one feature was not enough to explain risk, response, or stakeholder value.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F3429-0570-4EB0-8004-E4841337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10871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CED53-C303-4723-96E8-BA37E30B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81C1D-C39B-43ED-9893-C38B59F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Every useful answer created a bigger system question.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3204C-72D5-40BB-95DB-38772CB4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362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B0E1D-26A0-478C-A9BD-8663D5AC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1ABB1-A961-4010-8142-A2EB4E79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Requests were being limited.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01078-DD03-4841-B023-CFCB4FE5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796E5-2577-482B-99FB-651B38E2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95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But what traffic is causing it?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84667-5551-4875-A1B1-F3E31279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14750"/>
            <a:ext cx="2362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AE7BA-D4CB-45CD-8794-1B69509E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38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F4B"/>
          </a:solidFill>
          <a:ln xmlns:a="http://schemas.openxmlformats.org/drawingml/2006/main" w="0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50776-83E6-4110-B011-CC872D9F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00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Suspicious traffic was visible.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0AA91-1135-45FC-869B-202AB07D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67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F4B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41937-CB7C-4FB8-A121-E7A330B9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95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But what endpoint or site is affected?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939C0-E066-4B6C-A7CB-62ABCA22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14750"/>
            <a:ext cx="2362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E9CCA-9EFC-4421-AB9C-589DB689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38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C0B53D-358E-439F-85E4-25DC67C6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Telemetry gave context.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5DD36B-4FA9-45F5-B269-0CDF411C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7ED0AD-B328-4ADC-86B1-C4E01EC0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95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But what should the operator do next?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AADCBD-484B-42F8-8054-C38DF2B4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362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9FEAD-0549-4879-BA39-946DF6AA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38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8DFF"/>
          </a:solidFill>
          <a:ln xmlns:a="http://schemas.openxmlformats.org/drawingml/2006/main" w="0"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5362E0-90E4-408D-90E0-7E9C0D5E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00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Response guidance existed.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6D882D-96B3-4891-9925-84B85B82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67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8DFF"/>
          </a:solidFill>
          <a:ln xmlns:a="http://schemas.openxmlformats.org/drawingml/2006/main" w="0"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F9CC2F-5607-4AB2-A01F-191778E8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95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But how do we explain it clearly?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E25214-2064-40DD-90AC-3E565F13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81100"/>
            <a:ext cx="3390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C6CD0C-27EB-421E-8EE8-A6DE8300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28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8DFF"/>
          </a:solidFill>
          <a:ln xmlns:a="http://schemas.openxmlformats.org/drawingml/2006/main" w="0"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AA48CC-98B7-42B1-AFE3-21BCFDDD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287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Result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94AA51-692B-4EDE-8C22-192546D8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33550"/>
            <a:ext cx="2647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Rate limiting became the entry point, not the whole capstone.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D42E94-5C65-4A9D-AB53-8569DEE5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7561CC-046A-46FF-9D9D-3BB1C280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Decision logic | why the system had to grow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B35E6A-3CBD-4D97-9956-5C7BF7DC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817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77925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60F258-1963-4B2C-89CD-7661BE7A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2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35A8D-7A79-497D-B765-97DDCBBB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-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456">
              <a:alpha val="1333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04145-BCC4-45B6-B91A-908D395A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476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D6AF">
              <a:alpha val="784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26951-F0DD-41F9-AA22-AB3B19E2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C93AC-1CFB-4DE0-B984-7FCCC1BD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PULSEOPS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0334D-4FA7-4E86-8D67-0E9B080F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CMSI 694 | Final Capstone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AD740-7CF4-473E-B89C-66154FB7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7F3D0-BEB3-4BC5-A587-1BF15449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71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Project evolution: five phases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EE99F-5D26-4D94-A362-DC7C66A6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695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This is the story the final report needs to tell: a progression from a tight security feature into a broader product platform.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A4F88-A249-4F42-B318-3193DEDC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73723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393FE-ECD5-466E-859B-05BA6965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47EEA-3BAF-4B8E-99ED-C9F54051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18B3B-AC18-4E42-85AD-596520C4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1050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1050A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261E8-4C1E-4F86-AB03-593BE29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813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Rate limiting foundation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9A63D-EE42-426E-ACD5-AD19B37A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622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Started with suspicious traffic visibility, blocked-request patterns, and backend-first defensive logic.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6EB0E-62CE-4279-BC8A-AA17EFF0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7EA39-197E-4DE4-9C07-9D9B4FD0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1050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1050A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A23EC-5F59-41A6-88B1-809E1528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861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Observability 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C1FD3-84CD-4080-ADBC-EDA55FC8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6710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Added telemetry collection, dashboards, trend interpretation, and system posture surfaces.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3376E-7CC5-4A52-8959-6FE862F6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A2406-BE20-448B-B413-691D625F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1050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1050A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C34EA-26A3-4D7A-A398-E26C35C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Incident workflow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36125-2F4D-47B7-9FA0-2F61A2E0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719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Built analyst and war-room experiences so signals could turn into action and narrative.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C9D56-EFE6-4813-BE19-EC2E0ABA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F4B"/>
          </a:solidFill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983A4C-B40D-4AC6-A444-C81B82BD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1050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1050A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BF934A-85BC-4A14-8206-A30C58FB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Product cleanup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64993-8730-4CCE-867B-B43AD465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7680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Refined navigation, removed weaker features, fixed UX debt, and made the system feel coherent.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8AD874-A1D2-4D9D-A68A-22829DB8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8DFF"/>
          </a:solidFill>
          <a:ln xmlns:a="http://schemas.openxmlformats.org/drawingml/2006/main" w="0"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E8A9F-0C19-4377-86D4-7A759483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1050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1050A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BA8B9A-DD9C-4EAC-9744-353E9384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007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Real-time + automation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3CE272-DA87-4496-8556-5C754C6F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816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Completed live data integration, automation rules, deployment work, and final validation.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9BC153-C0FD-4599-A033-56569C45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F4DB1F-CD09-40D6-B1F3-78511646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000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B4F764-384A-45E5-8547-A6B2E5FA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9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Constant themes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5D1247-69B0-4EBC-ADCB-3E0352C7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Security and suspicious traffic stayed central throughout the project.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28AA84-C5E5-40E5-963C-7A87D0D0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2910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D6A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D6AF"/>
                </a:solidFill>
                <a:latin typeface="Avenir Next"/>
                <a:ea typeface="Avenir Next"/>
                <a:cs typeface="Avenir Next"/>
              </a:rPr>
              <a:t>Operational clarity mattered as much as backend correctness.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936F69-70CE-4964-8F38-75888AC7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final scope got wider, but it stayed anchored in practical system response.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AD087C-454B-4A50-8CE0-2C2D87C3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B1ADB3-DC9F-40D8-BA4E-6E26FEDC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Project lifecycle | phase progression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AFACDE-70B8-457E-884B-13541521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817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14717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12AD4B-33F4-4540-9979-CB08EE9C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2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237E4-3086-446B-A752-7EF76A76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-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456">
              <a:alpha val="1333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C613C-89CC-4738-BAAF-17579E78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476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D6AF">
              <a:alpha val="784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B9551-96AB-4EFA-B836-BA5BB082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70CCE-A767-4B77-AC1B-6993C53E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PULSEOPS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B643F-0E10-47E3-8F0B-1532D22B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CMSI 694 | Final Capstone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56824-3EAF-463F-8161-E43A8E62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FINAL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BDD6B-E6CD-4CA7-8D83-79BD7955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PulseOps architecture and product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18F99-C163-4BB3-AD87-9B905DC4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By the end of the semester, the project had a modular architecture with clear layers for collection, interpretation, action, and communication.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D6189-D84A-45DE-AE4A-BF92D400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2438400" cy="25717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91D26-5745-4534-96FC-5DF8D1B0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998C2-1419-4160-B2FE-23E94934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COLLECT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9A895-2D19-43B8-95E0-AC82ECDD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9EF5E-37BE-4C4D-807F-0F232EE1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92ADA-1C74-446B-9B55-B0747F3F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Browser snippet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4DC10-DD06-4FC4-AAEA-E70C2224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DA4D6-ADEB-48B2-BC4F-55993D8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957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API telemetry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FD002-46C5-48CD-B86B-5D73C649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208B5-4C15-4763-B6A9-95728CBA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Imported 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42D28-F9DE-4A05-A213-9FA31132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09CEE-1CB9-44D9-B23F-D246E094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434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Demo 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710F3-1BA1-46A3-B09D-71D1660C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71800"/>
            <a:ext cx="2438400" cy="25717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451F4-18FE-4E24-9019-8B29DEBE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5562C-321F-46F5-ADA6-5DAA8780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PROTECT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DFB058-F19C-4CB2-A30D-3DB14DB8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Edge + runtime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0C010-5400-411D-A98B-19460357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7670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2AA62A-B352-44D5-89D6-6562FBCC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719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Rate limiting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8B54EF-590F-4F37-8B23-2CBDBD98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005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84A6C9-5895-49AF-8F7A-5486FE4E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957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Bot posture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C16833-FC81-4D7C-9698-E82BCBE2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2440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4E8194-61F1-43C5-A3C4-B350CC36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196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WAF-style controls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EF71DA-1543-4E39-B18E-96C3310D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482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53EE65-9F7A-4490-B3FD-711B7452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434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Traffic modes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541C52-3C40-47BA-9876-67220223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71800"/>
            <a:ext cx="2438400" cy="25717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7F0DA4-7078-4A8A-A192-DF268C33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911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693F4A-1A6F-42E6-938F-1470E639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194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INTERPRET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87702C-6A31-4E52-8500-39164CF3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242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Core services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DF6A50-EACB-4DE2-9F25-1D269F01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7670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99BEB6-078D-4076-94A0-D463E82A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719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Node / Express APIs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5E9A42-B15D-4FF4-BF38-9A7AB9AB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005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21198C-CABC-4360-A2EE-53C4EBD6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957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SQLite persistence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19BDFB-D042-480D-9C6A-0ABF3270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2440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77F231-4772-4EA2-A965-A59839FB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196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History + analytics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A1B150-63F7-4EEF-BE7B-EAEACAE0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92AECE-F565-41D5-B8D7-6DEAA9A6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434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Threat scoring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17CA51-F4FD-4A5E-A6FB-0D1BDDEF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71800"/>
            <a:ext cx="30289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520CA6-DB8B-4F61-891D-5456E514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911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8DFF"/>
          </a:solidFill>
          <a:ln xmlns:a="http://schemas.openxmlformats.org/drawingml/2006/main" w="0"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78DFA1-9D09-43ED-BFD0-F33EB982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1945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COMMUNICATE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A3A5D0-B719-4113-818F-CAF8599F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Operator surfaces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577254-F678-4BA7-83F7-7D326DFA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8DFF"/>
          </a:solidFill>
          <a:ln xmlns:a="http://schemas.openxmlformats.org/drawingml/2006/main" w="0"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0A7005-8EBA-47A9-83E1-8BF685F6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71925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Command Center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2B7391-16CF-415B-B1D3-DD640191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005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8DFF"/>
          </a:solidFill>
          <a:ln xmlns:a="http://schemas.openxmlformats.org/drawingml/2006/main" w="0"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96E36F-FEF6-4B36-9E08-1BB9BF78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95775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Analyst + War Room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B4CD6B-03A4-4D4B-AFB9-5DCAFC75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2440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8DFF"/>
          </a:solidFill>
          <a:ln xmlns:a="http://schemas.openxmlformats.org/drawingml/2006/main" w="0"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A28D01-6C5D-4C6D-97AE-82CB87B1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19625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Automation Center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4E115A-60FE-4B12-B212-CDFC5340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482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8DFF"/>
          </a:solidFill>
          <a:ln xmlns:a="http://schemas.openxmlformats.org/drawingml/2006/main" w="0"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E907A1-995A-4F9F-AA40-9544AF85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43475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Executive exports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4086C3-9668-4C9E-92B8-329BED01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51223A-3292-405B-955F-110074AE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A7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8A7FF"/>
                </a:solidFill>
                <a:latin typeface="Menlo"/>
                <a:ea typeface="Menlo"/>
                <a:cs typeface="Menlo"/>
              </a:rPr>
              <a:t>React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8AE121-1440-4DF0-832B-61F5CEC8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92455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FEE0E1-5CDF-46E5-AA55-BA4A2319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00075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Express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0C1DAF-4D27-46DD-B9E1-56460754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924550"/>
            <a:ext cx="895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6D2CBF-6651-43DC-A270-280C100B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00075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F4B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2BF4B"/>
                </a:solidFill>
                <a:latin typeface="Menlo"/>
                <a:ea typeface="Menlo"/>
                <a:cs typeface="Menlo"/>
              </a:rPr>
              <a:t>SQLite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2E9C6EC-8775-46C8-8FC7-BC7C9322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924550"/>
            <a:ext cx="1352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41FB83F-3CAF-4BA9-AC23-7AD7D79D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000750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68D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868DFF"/>
                </a:solidFill>
                <a:latin typeface="Menlo"/>
                <a:ea typeface="Menlo"/>
                <a:cs typeface="Menlo"/>
              </a:rPr>
              <a:t>SSE + polling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EB0C34-F4FD-4DF3-A061-B832E7A6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92455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6D79C7-C25C-4F4D-8ACE-1CDAD1C2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00750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6B6B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6B6B"/>
                </a:solidFill>
                <a:latin typeface="Menlo"/>
                <a:ea typeface="Menlo"/>
                <a:cs typeface="Menlo"/>
              </a:rPr>
              <a:t>AI + automation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549C1E-0FC4-4AD5-AD04-73A7659D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748F266-9A5E-4680-865F-578E6CD9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Architecture | layers | modular workspaces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C78BE3-0069-4C18-A483-6330F973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817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44310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3456A3-6F42-4B0A-A918-8A3BE6AB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2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67542-6569-40DA-86A3-18311720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-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456">
              <a:alpha val="1333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1B8FA-0361-41F8-B9C3-52C1B9DB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476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D6AF">
              <a:alpha val="784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EEB83-FC57-4800-BA36-B9C456E6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0141E-2D65-40E1-99F0-E7F841C0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PULSEOPS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C95A8-0245-4510-BC07-B566549A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CMSI 694 | Final Capstone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AEBF5-C577-430B-814C-CD3A44C7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DELIVERED 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A6C63-2B00-495E-8969-DF2AFC26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33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 was actually built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9C310-3FEA-4CC2-A90A-06C78DC7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The final result is a much bigger system than the original plan, but it preserves the same core objective: turn risky traffic and system behavior into useful operator decisions.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EF7A2-FDCB-4019-B7BB-315B23E3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2609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C1257-D43F-4E15-8943-465E0615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WORKSPACES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C5E45-4D7E-4E03-BF1F-4DC4B733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D6A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1D6AF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C56A8-79B5-4FE1-9AC5-1C291C04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Monitoring, analysis, response, reporting, 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88D31-7435-4446-BFED-C676FC96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76550"/>
            <a:ext cx="2609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DE31D-E602-4B9B-A043-1BDC8584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REAL-TIME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B74C2-AEDA-42DD-BBED-52BB0E95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290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A7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8A7FF"/>
                </a:solidFill>
                <a:latin typeface="Avenir Next"/>
                <a:ea typeface="Avenir Next"/>
                <a:cs typeface="Avenir Next"/>
              </a:rPr>
              <a:t>Live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F7799-6DBE-4698-AA8F-9990188E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Streaming summaries, polling, source-aware traffic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10FAF-A081-4D03-8DB5-F034B5BE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76550"/>
            <a:ext cx="2609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F9ABD-41B1-458D-A22C-791B43B3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AUTOMATION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AE797-9C2C-4AD1-A39F-729E1F97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F4B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F4B"/>
                </a:solidFill>
                <a:latin typeface="Avenir Next"/>
                <a:ea typeface="Avenir Next"/>
                <a:cs typeface="Avenir Next"/>
              </a:rPr>
              <a:t>Rule engine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1BD22-7347-4BCA-B724-6D4FBF86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Webhook, lockdown, playbook, share 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F7252-4350-4898-A2E8-6928DB28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26860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35E44-A962-405F-A439-A50B9B17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EDGE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CE7A8-6F3D-47A0-A1E5-1F76DD51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29000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68D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868DFF"/>
                </a:solidFill>
                <a:latin typeface="Avenir Next"/>
                <a:ea typeface="Avenir Next"/>
                <a:cs typeface="Avenir Next"/>
              </a:rPr>
              <a:t>Site-level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302590-332C-4FB0-9458-82204A80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814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Cloudflare-style runtime and posture controls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C021AB-54B5-457D-A906-9FF30969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72851A-DB4B-4A3F-A969-14F081D8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9D2D73-CDDB-48B0-A685-7E1F5EDC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3009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MONITOR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85BB3E-B6B1-490E-90A7-291C8253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3009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Command surfaces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A15ECD-9412-4353-AF09-96CFE56F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E1668E-D27E-4062-AAF9-CE74F69D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Command Center for live posture and operating state.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B23D53-743A-4239-A446-63F132C5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930D4D-74AC-4B42-95EF-1D5B8F2E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674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Website Guard for snippets, sites, risk, and threat evidence.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CDD676-8A32-4D55-A70C-CC43F7A9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2915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265152-BEF2-4A1F-8397-1BA90195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626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F4B"/>
          </a:solidFill>
          <a:ln xmlns:a="http://schemas.openxmlformats.org/drawingml/2006/main" w="0"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721923-87AF-4F1A-BB86-4DE3ECCF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00600"/>
            <a:ext cx="3009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RESPOND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F67785-B5EC-44C9-95F9-62CE30D2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05400"/>
            <a:ext cx="3009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Operational flow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1D35FF-0A7F-48A6-BD6E-6227F5F7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38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F4B"/>
          </a:solidFill>
          <a:ln xmlns:a="http://schemas.openxmlformats.org/drawingml/2006/main" w="0"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BB05BE-D865-4F4E-8EEA-B3355982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626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Security Analyst and War Room for diagnosis, action, and coordination.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13D980-532D-47DD-ABAA-D2A74C3F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943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F4B"/>
          </a:solidFill>
          <a:ln xmlns:a="http://schemas.openxmlformats.org/drawingml/2006/main" w="0"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60C9E5-7BB5-4F64-8A4E-6EC7AF5F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8674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Admin Console for users, keys, integrations, and imports.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9C2FF8-5FA3-4B28-8B78-9F42CBF0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29150"/>
            <a:ext cx="3619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727D08-C84F-4E73-A4B6-422A0667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9626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8DFF"/>
          </a:solidFill>
          <a:ln xmlns:a="http://schemas.openxmlformats.org/drawingml/2006/main" w="0"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E492C9-DA89-4F65-932F-F4364866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EXPLAIN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DE3325-3A3A-45E1-B1BA-99D56C2F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320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AI and reporting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301A34-6470-4BFE-8D1D-7859D954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38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8DFF"/>
          </a:solidFill>
          <a:ln xmlns:a="http://schemas.openxmlformats.org/drawingml/2006/main" w="0"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D0B25A-F47F-4FD4-AA48-8206B7CB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6260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Chat Workspace, Prompt Studio, Executive Suite, and Export Center.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5409D0-9854-4C78-AE3F-89CBAA3A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943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8DFF"/>
          </a:solidFill>
          <a:ln xmlns:a="http://schemas.openxmlformats.org/drawingml/2006/main" w="0"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6C2917-F3A5-493C-BE86-E13C128F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6740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Automation Center for repeatable system behavior and escalation.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59663C-02EC-4714-981E-829852CE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952446-D732-4E25-BDFF-E5AB8B78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Delivered value | product surfaces | system maturity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4889C9-7DCD-400D-AD80-F4D5190E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817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04605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BD4353-2E50-414A-B663-C66FD4E9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2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34275-6A00-42AE-812F-AAC2C524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-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456">
              <a:alpha val="1333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3015F-0470-4B24-B7BC-EB612956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476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D6AF">
              <a:alpha val="784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AFC80-6D49-40B7-8F52-DA96B496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93691-2CC9-456A-A8EE-6E998047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PULSEOPS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EBF6E-3532-439C-9903-387B2632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CMSI 694 | Final Capstone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919A2-0C75-404C-9E1E-68E6B30B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DIFFERENTIATION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7DD00-45E2-44CE-AB1B-22CF8A12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 makes PulseOps more than a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E1E92-0154-416D-B0EB-713A5094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The project became stronger when it connected telemetry to explanation, action, and presentation instead of stopping at charts.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D7A54-F100-463A-8B4E-1656BABD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2590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CA2AD-775A-42A8-ADEB-69209707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82255-1319-427E-BAAC-7CC1A06E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17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D6A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1D6AF"/>
                </a:solidFill>
                <a:latin typeface="Avenir Next"/>
                <a:ea typeface="Avenir Next"/>
                <a:cs typeface="Avenir Next"/>
              </a:rPr>
              <a:t>Traffic-aware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B97FF-A678-4DCA-80B7-B8D09E45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Live request data, suspicious events, source 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9F708-83E5-4621-8743-2C710FB4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95600"/>
            <a:ext cx="2590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68101-1A30-437E-97A5-9CA43A64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6705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561CE-E832-444B-A6E3-893C291E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48050"/>
            <a:ext cx="217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A7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8A7FF"/>
                </a:solidFill>
                <a:latin typeface="Avenir Next"/>
                <a:ea typeface="Avenir Next"/>
                <a:cs typeface="Avenir Next"/>
              </a:rPr>
              <a:t>AI-guided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36923-B396-47A4-9DDB-35BDC2B3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0050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Analyst, chat, prompt workflows, executive summaries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65A19-2588-41BE-BB5D-7FAB69AB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2590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36876-2456-4951-862A-463042A5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6705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F19E0-C891-4CEB-BE69-19ABBBA3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48050"/>
            <a:ext cx="217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F4B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F4B"/>
                </a:solidFill>
                <a:latin typeface="Avenir Next"/>
                <a:ea typeface="Avenir Next"/>
                <a:cs typeface="Avenir Next"/>
              </a:rPr>
              <a:t>Response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58411-1AF4-43F7-875A-57E925B3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War room, admin controls, playbooks, runtime posture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7197B-B106-40A4-8002-6B3B2AE7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6860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31932-66BD-467E-859C-6DD7E799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SCALE-UP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036D5-40FC-444F-9E41-7F06FE38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48050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68D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868DFF"/>
                </a:solidFill>
                <a:latin typeface="Avenir Next"/>
                <a:ea typeface="Avenir Next"/>
                <a:cs typeface="Avenir Next"/>
              </a:rPr>
              <a:t>Automation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B4897B-C8A0-42E9-9C6A-A8420E40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005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Rules engine, alert actions, share/report generation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894FC-3003-4F02-A525-0D1D603A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143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933272-9E48-4631-9A31-12D21666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9C1515-13AD-4C4A-9862-3F26B185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Included in scope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66FE84-6684-47D2-8DC2-ADEBCB92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0BF44D-0F2C-4E8C-811C-E5B7B40C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19700"/>
            <a:ext cx="407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Real-time telemetry and suspicious traffic visibility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D3633A-A878-457E-8850-C92552D9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933A42-BCFB-44E9-9D27-9588687A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05450"/>
            <a:ext cx="407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Operational UI across monitoring, response, reporting, and automation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982E84-4BCE-48DE-95C8-96CDA8E0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862383-9F7F-43BD-991F-F1AF10A1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91200"/>
            <a:ext cx="407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AI-assisted explanations that support both technical and non-technical audiences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27C5E5-998F-4C19-A0CD-D670C558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29150"/>
            <a:ext cx="5715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49E8F8-1814-4D1F-92CD-9292FED9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9626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3E4256-E051-4B84-BAE4-19F0EBA6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95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Explicitly excluded or deferred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6DD3ED-FD81-4359-9D45-9FBD162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107E81-BF9B-4BAB-918C-BE4E1A64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197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Full multi-tenant production hardening and enterprise auth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18B3AF-2AB4-4726-8421-7E8490B2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81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9DB8EF-6FF9-4E6E-BED3-C3B2122F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054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External paid infrastructure and deep third-party integrations at production depth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09E1CD-5BBB-42C3-8010-2F515C05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867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66F60D-5889-4984-8AE1-2EE845E5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912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Every possible module idea; weaker or noisier features were intentionally removed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A510B9-F2A1-4B33-9656-5C9EC70A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0D5255-9838-41A2-AB2C-B6B208EB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Scope discipline | what was included and excluded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6FC704-9144-4270-AE7D-1670AD27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817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245762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F534E5-7E40-41EE-8DF7-7D1C1AC4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2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C439E-D217-4DB6-A484-1D190713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-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456">
              <a:alpha val="1333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B66E1-95E1-40A7-8BD5-59C29C1A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476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D6AF">
              <a:alpha val="784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0AB87-6C4D-42B8-93A2-11669831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0BB0E-60D5-4742-BC97-9792F876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PULSEOPS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8A255-F51F-42CF-9E8E-668A0893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CMSI 694 | Final Capstone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310D2-39F3-4830-AD2D-B07E6CB6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PROJECT MANAGEMENT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BE8DC-6A9D-4E3B-9F63-D715ACCC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sprint execution shaped the final 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3849E-C058-4FFC-BCAF-2873F55A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Working in sprints made the project easier to evolve honestly: it created checkpoints for expanding scope, pruning weaker ideas, and validating what actually produced value.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39A50-2B0B-4C80-9BBD-BE06B6A8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21717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CF212-AA21-45D7-9ECC-05254474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SCRUM-31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80FA4-F46E-415F-BC4F-AF3540FD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D6A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1D6AF"/>
                </a:solidFill>
                <a:latin typeface="Avenir Next"/>
                <a:ea typeface="Avenir Next"/>
                <a:cs typeface="Avenir Next"/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A14B1-35BF-41B6-8D57-0B2B6EFE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stability fixes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9CC14-096C-4896-9869-C4936831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76550"/>
            <a:ext cx="21717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12A49-F84B-4783-BA6E-5170D2D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480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SCRUM-32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07F4F-BB26-4C07-AEF1-7D615FAD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2900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A7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8A7FF"/>
                </a:solidFill>
                <a:latin typeface="Avenir Next"/>
                <a:ea typeface="Avenir Next"/>
                <a:cs typeface="Avenir Next"/>
              </a:rPr>
              <a:t>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E3768-EF9C-44F5-8578-FEC759DA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814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dashboard improvements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57A35-0882-4F5B-A3AE-DACF031E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76550"/>
            <a:ext cx="21717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41ACB-0BFB-404F-A4BB-F3AA2D3C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SCRUM-33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E4400-FF73-409C-B90B-484DF75D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2900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F4B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F4B"/>
                </a:solidFill>
                <a:latin typeface="Avenir Next"/>
                <a:ea typeface="Avenir Next"/>
                <a:cs typeface="Avenir Next"/>
              </a:rPr>
              <a:t>Advanced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CDA6D9-6C92-4E80-980C-09A0FCB2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814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observability enhancements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3DBA0-9DE4-4470-ACA5-E0CCD5FA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76550"/>
            <a:ext cx="21717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6734F4-E0B9-4F21-81A3-B072A584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SCRUM-35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E78592-7124-4800-BAA3-5912514F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68D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868DFF"/>
                </a:solidFill>
                <a:latin typeface="Avenir Next"/>
                <a:ea typeface="Avenir Next"/>
                <a:cs typeface="Avenir Next"/>
              </a:rPr>
              <a:t>Real 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70852-D847-4476-8668-AA491833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814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data integration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EA3B25-CB95-46B9-BEFB-53AE32A7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1638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AE0EE8-985B-4901-A626-469294A8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480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SCRUM-36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65DC9B-E648-4E72-907F-4F124B0A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29000"/>
            <a:ext cx="121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Final QA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337253-7E55-4D86-B877-045C4BDE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8145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validation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9D4C5C-1789-4E32-B349-A4FB158A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82282B-E1F9-45A7-BD41-AFA463AA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4F10D4-23AC-4590-86BC-1D62BCDF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What sprints helped with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25A1AC-6AAF-4840-A4A7-450B2B46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39156D-7CBD-4224-9B8F-7675FBD8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405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Made scope change visible instead of accidental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547C0A-3182-4608-8C67-AF5A8288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B2E4F2-E10E-416E-947D-16B586F9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405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Created concrete Jira alignment between features and validation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CF3D4D-73DF-4B5D-A6EE-33E9B58A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C491AE-7C70-45E3-BAD8-EF8FBF54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405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Supported final cleanup instead of endless feature accumulation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27F028-FFC6-4839-823F-0B4A8028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56388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BD75FB-B028-49C9-B220-5E1B5CCC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626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5F0486-446A-46DA-A2D0-EDE4CA61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577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What was difficult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A76EF1-2E61-48DB-AE8D-86AB733D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57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E01D86-74F2-4606-9A59-2503F0AE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81600"/>
            <a:ext cx="466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Keeping the UI coherent while the platform widened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230FA1-8761-41E5-A3E2-E7C35D9A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43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5FBB12-FDDC-4CBB-9BCB-1399F6B8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67350"/>
            <a:ext cx="466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Balancing demo value against production-style hardening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A8780D-24DE-4AE5-B95E-7C4A2A34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29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CDB84E-BC93-4093-88F9-0E090BFC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753100"/>
            <a:ext cx="466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Recognizing when removing a feature was better than keeping it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0CB262-4EDD-4D43-B90A-ADC30DF7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2916F9-4EC8-4153-9680-2055C0D5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Sprint process | Jira alignment | project management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D83F33-3F85-4F13-9C1F-5653C09D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817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23315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077651-282F-4B52-BA53-ABDC788D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2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200E2-BACB-460C-9704-3BBA7EE8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-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456">
              <a:alpha val="1333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0CB10-9076-4E14-BFFE-5878EC3A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476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D6AF">
              <a:alpha val="784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FA4C2-E512-4597-882B-AB41C32C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CDE2B-7DE7-4BD2-9897-87E77111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PULSEOPS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7EDAC-C3EF-4781-BF4C-8007B6C3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CMSI 694 | Final Capstone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6BA73-6904-411F-8051-FF979475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CHALLENGES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BD670-0EF0-42F5-A857-80BBDEFE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Key decisions, tradeoffs, and stakeholder thinking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A9903-F246-4CAA-ABF0-0E47ED2A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A big part of this project was deciding what kind of system it needed to become, and who it needed to be useful for.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D342A-1B65-41B2-B2F7-ABB8276B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3543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0AA59-3DF0-4135-B531-0A7CE50C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11F05-796E-495F-BE87-C939CFE2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Major challenges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94650-F572-4122-9F61-28348FDA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B588D-884B-41BE-B732-7EFA7440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Scope expansion risk as more capabilities became obviously useful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B6720-6801-40E6-AA79-EF0BEC33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BFE3E-39C9-43A3-A57A-2008C8C9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Frontend clutter and readability as the workspace count increased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E6A52-45EF-41F8-9413-C6AE25EF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AD699-4502-405F-A2C4-6F396DC3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Making real-time behavior feel credible rather than simulated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48B69-8727-4FF5-B525-64894144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85355-CEE1-4A1F-96C7-967C38E5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Explaining technical risk clearly to non-technical judges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2CB145-CC82-45BE-BF3A-98490BE0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76550"/>
            <a:ext cx="3543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00E1C-754A-4434-8A2F-7A028A9B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531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EB428-E5FB-40FC-BE20-AFA6F237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Alternatives considered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C68F01-EA53-4802-B155-EE97E51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3DC9DF-D2A9-4A9D-9666-6299E5DE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861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Stay narrow and deliver only the rate-limiting feature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56C37B-E79D-45A7-93B8-453C6610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ED3EF-F2C8-468E-9818-5BE0D308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290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Keep every experimental UI surface instead of pruning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22B1DD-DA6F-41AA-90DD-53158DCA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F273ED-ED3F-40A6-8328-172EC449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Prioritize pure backend depth over end-to-end product experience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A95913-C81F-4E4F-B962-24959395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70767B-331F-4BAF-A32C-EF2F8395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148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Treat the capstone as a tool instead of a platform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49BB3A-9D4B-4C36-BD8D-3DC68BD3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3543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AFC31B-22A9-40A7-B479-127D40E0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531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D99785-7527-4F0E-BE72-95A35159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Stakeholders / customers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0A71A3-C9A8-4EB7-8DF6-C92EE92F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62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EB713F-5536-45D0-BBB4-D137A3B6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861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Technical operators who need visibility and response guidance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A8A393-6F4D-4EF4-BDAA-ADF4971B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A60645-71C5-4F4A-B4B6-79A9CD5F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Non-technical judges who need a clear story about value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497808-6A00-4849-88CA-03584DB7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10D3B6-5A7E-4630-92DD-0F71A097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719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Future employers reviewing system design, UX, and engineering execution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5B4D7A-2CCF-46E8-974D-0E8EF208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7A2674-DD27-4F4D-85FB-E79C2171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The project owner: me, as a portfolio and learning outcome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7205B1-29D4-43A9-9EAC-CD69BF26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BE8911-A09E-4FFC-A2CC-0C20F55F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Challenges | alternatives | stakeholders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8FA8B9-67E2-49B1-B588-855699F2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817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035096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C4BBDB-F890-4768-BCF7-90BF1CA7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2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25204-DEA5-4229-87B7-1152903E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-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456">
              <a:alpha val="1333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F93AA-BCCC-4033-B6B0-6DF1A0ED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476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D6AF">
              <a:alpha val="784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4A99C-D08E-4385-A7F7-C7BB34C3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31422-2EFF-4423-8576-E7B37A89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PULSEOPS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CCEE5-166A-4F77-B9AC-F4D9057B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CMSI 694 | Final Capstone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0B9C0-0B4B-43F1-9184-425FECDB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PRESENTATION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E13FD-0486-4DEE-81D9-CC049B2D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Recommended live demo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3381D-B08E-4761-89E2-9ECD539B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The demo works best when it starts with posture, then proves the original traffic/security story, then shows response and automation.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1FF66-01A0-4C44-9A7D-A73BA740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73342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086D0-52C4-4D90-83F9-F5AFE0F7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D7F5B-D12B-4001-8A50-1EECDEE2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13329-1A25-4570-9150-CDE54055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1050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1050A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2A0ED-B35F-48DA-9AD3-6E3084CB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622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Command Center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03535-550F-40A6-869C-F31646E6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43225"/>
            <a:ext cx="3600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Open with live posture, AI summary, and what the platform thinks is happening now.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25BE5-3E40-4853-A210-EE3EF370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BC43D-B8DB-45E1-89FD-DC292756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1050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1050A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2BE0C-746B-4605-9912-36FD3D1B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Website 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F7751F-939C-45AE-B4C9-D58D8E2B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48075"/>
            <a:ext cx="3600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Show sites, telemetry capture, suspicious traffic, and rate-limit visibility to reconnect to the original project scope.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A5AEC-1D17-4858-97CB-499B5594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F4B"/>
          </a:solidFill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3C3096-E61B-42A9-984E-5330F071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1050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1050A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45F4BD-609A-4352-8191-E4EA560A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719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Security Analyst / War Room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48E43-F81F-40F9-8A03-5804483E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52925"/>
            <a:ext cx="3600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Turn evidence into diagnosis, next actions, and operator narrative.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8FB5E7-16B6-413B-8824-5EFF992A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8DFF"/>
          </a:solidFill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775B82-1529-405E-9744-48B8973A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1050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1050A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86EDB-3FCA-4DC6-A278-9A2B00B4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768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Automation Center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DB14B7-ACFD-4561-9556-10ED0A0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57775"/>
            <a:ext cx="3600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Show rule-based trigger logic and why the system is more than a passive dashboard.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16A978-1B9F-4171-A8B5-3E961B38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813A30-096E-4A79-8BB8-2ADEAE51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1050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1050A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0B7060-175D-4D7F-84E5-A7C542A2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816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Executive Suite / Export Center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DBA968-8ADD-440D-8FD6-9C170BBD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762625"/>
            <a:ext cx="3600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Close by proving the platform can communicate value, not just collect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2FD24D-CBFB-4BE6-8EC1-6D0C82B8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19400"/>
            <a:ext cx="3448050" cy="36385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D9C697-3BE0-4DF2-848A-81EBE5C8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055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D026F8-781C-48DE-8FB3-DFA39E37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Presenter cues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42E396-FB58-41DB-A6A1-CF0D87B6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09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Keep repeating the same arc: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1099E4-7ACE-49A3-821F-EF93F1A9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5285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rate limiting -&gt; observability -&gt; response -&gt; platform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C17DEB-905F-4751-938A-2273C4A1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81500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That phrase makes the project journey easy to remember and keeps the demo tied to the report.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1BDC06-FF05-4AC2-9FB8-D89B3EB6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81600"/>
            <a:ext cx="1314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74D75B-E23B-48B6-904C-DA61F8FD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5780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A7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38A7FF"/>
                </a:solidFill>
                <a:latin typeface="Menlo"/>
                <a:ea typeface="Menlo"/>
                <a:cs typeface="Menlo"/>
              </a:rPr>
              <a:t>Technical judges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4923F4-101C-4DEF-B424-EE57F349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181600"/>
            <a:ext cx="137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52D28D-4FC0-49D4-822B-388FC6F8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2578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F4B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2BF4B"/>
                </a:solidFill>
                <a:latin typeface="Menlo"/>
                <a:ea typeface="Menlo"/>
                <a:cs typeface="Menlo"/>
              </a:rPr>
              <a:t>Business framing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01B818-EE74-4969-AC26-77F8DB28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38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If anything live goes wrong, switch to screenshots or a prerecorded fallback immediately.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A8D816-A245-4DF2-8EF7-97F95CF3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AEA5B0-338D-486C-BDAD-CB08A3CE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Demo sequence | speaker guidance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591D88-58EC-4EEB-B503-B9F9E14E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817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609388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DBF087-8E61-40E1-AFF1-1338CE3B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2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3E4AE-1182-4994-BF83-210E5E1E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-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456">
              <a:alpha val="1333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A7065-64D9-4A60-B954-27E82540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476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D6AF">
              <a:alpha val="784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E054D-051E-4AAD-81FC-CAE8B1B0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65EF6-5A9C-4C60-B621-4FC63402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PULSEOPS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C7D82-623B-4B87-9683-5226F471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CMSI 694 | Final Capstone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D6888-E015-4FAE-8D6C-6CF446EB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REFLECTION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9D5C3-045B-4D53-8EFE-93C57386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 I learned and what I would do differently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83378-F1DD-4565-9B08-917529F2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The biggest lesson from this capstone is that technical scope evolution is normal, but it has to be documented and managed honestly.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72126-3E44-4F51-868B-5F29B0EC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52578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4EB38-8390-41B5-A4A6-BD7ED7DA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2BE9B-A0E2-4B6F-AA96-C2E2DDF9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Most valuable lessons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54A8A-6F81-4F6A-9CC3-75304FC3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A4B35-B954-4E55-9B2D-E5FE2270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413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Backend features become more valuable when they live inside clear product workflows.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22911-4BE0-4CD0-BAEF-4E0C54C0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A5137-37AD-4C6B-B637-D5E84CA1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413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Real-time systems create UX and presentation problems, not just backend problems.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68282-9FE4-41D2-A529-3DB622C8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DF4A9-266E-492B-8BB8-93612BBD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413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Removing low-value features can improve a product more than adding more modules.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03895-B7F3-4CB4-B520-20E58F05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D6AF"/>
          </a:solidFill>
          <a:ln xmlns:a="http://schemas.openxmlformats.org/drawingml/2006/main" w="0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DE505-DB77-4946-AF6D-5FAFADDF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413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Project storytelling is part of engineering communication, not separate from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72FA3-75C2-411E-9B37-B38AC443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76550"/>
            <a:ext cx="55626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5B16C-87C3-46A1-877B-7B4FB57C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340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F4B"/>
          </a:solidFill>
          <a:ln xmlns:a="http://schemas.openxmlformats.org/drawingml/2006/main" w="0"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7C04DA-0D2A-4342-BE03-B51EEF39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If I did it again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6AC01-8CA1-4B16-A6E9-B449FC46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F4B"/>
          </a:solidFill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9F583-6706-4BEE-ADA4-3DB5C945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861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Document scope changes earlier and preserve the semester narrative while building.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5198F-CC47-4407-87A8-ECF86D62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F4B"/>
          </a:solidFill>
          <a:ln xmlns:a="http://schemas.openxmlformats.org/drawingml/2006/main" w="0"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AE9CDC-0554-49E7-90D2-D5240EA3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4810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Lock the design system and navigation model sooner.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A09E72-A881-4D84-876A-98C80223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F4B"/>
          </a:solidFill>
          <a:ln xmlns:a="http://schemas.openxmlformats.org/drawingml/2006/main" w="0"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CC1C61-571A-4E79-9030-F7B21861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100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Deploy public infrastructure earlier so hosted testing happens before the final sprint.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B5A665-66B3-4B3E-9843-D543345E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F4B"/>
          </a:solidFill>
          <a:ln xmlns:a="http://schemas.openxmlformats.org/drawingml/2006/main" w="0"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044B1-C26C-4976-AEF3-B6A3BE33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7200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Separate demo-only features from production-hardening goals more explicitly.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389F8B-7A76-4A34-907E-8298E6B4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10189C-88B3-405F-A68B-65D81B04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Reflection | lessons learned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01E5E3-B96E-48BD-A580-6CB775B1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817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207729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0450EE-E749-4E2F-85B3-74B664C4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2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7057E-8971-4887-BD5C-8840242B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-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456">
              <a:alpha val="1333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3213C-58B1-4713-8231-FF0A1C25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476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D6AF">
              <a:alpha val="7843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9043A-95D3-47D2-949B-E2C2955A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48D3E-1935-4832-9306-2AFDE00E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PULSEOPS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FEE71-9984-4333-AFAA-DCE45BDC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Thank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7BBC3-53AF-430E-B631-539E46C0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52689-4F84-43BA-A0ED-BAF64CE7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D6A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1D6AF"/>
                </a:solidFill>
                <a:latin typeface="Menlo"/>
                <a:ea typeface="Menlo"/>
                <a:cs typeface="Menlo"/>
              </a:rPr>
              <a:t>Closing takeaway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A1487-C742-45F8-BA83-6CCA4452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71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PulseOps began as rate limiting.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10AF7-7348-4612-A335-07E67181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It became a real-time AI operations platform.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31C47-2396-46BA-A7A4-69D137A7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7334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final value of the project came from following the problem where it led: from suspicious traffic, to observability, to response workflows, to product-scale communication and automation.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65482-D3C3-49D8-9A70-42B1B0AD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7086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F24BA-0ABD-44F5-9569-4C5A44EB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7FF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CF598-3749-466C-8EBA-9DCC94DD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Final message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78BA8-D411-4D10-A4C4-808A46FA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607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This project is strongest when presented as both a technical system and a record of disciplined project evolution.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85D4D-A32C-45D5-BC09-4DB654F3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543300" cy="44386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141E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18A4D-FFB4-4147-901C-3A329FAF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150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8DFF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4295D-182A-45DA-B1D4-55137927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145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QUESTIONS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C6260-9048-47A6-B14E-D4BCB864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Thank you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DB4AD7-5151-4DA0-B5F4-66188952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References to mention during Q&amp;A: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188DD-2264-4212-856A-30A8DD4B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D6A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D6AF"/>
                </a:solidFill>
                <a:latin typeface="Avenir Next"/>
                <a:ea typeface="Avenir Next"/>
                <a:cs typeface="Avenir Next"/>
              </a:rPr>
              <a:t>Jira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63B5E-4250-4DB1-82B5-E1CC72BF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670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SCRUM board and sprint reports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B9B0A-989C-47C7-81F9-F7C51CA2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prabhakarayush21.atlassian.net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FB332-B317-45CD-8D1D-FAF8C6D9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481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A7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38A7FF"/>
                </a:solidFill>
                <a:latin typeface="Avenir Next"/>
                <a:ea typeface="Avenir Next"/>
                <a:cs typeface="Avenir Next"/>
              </a:rPr>
              <a:t>GitHub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29E06-1FBB-41C1-BF05-7FCD7B49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67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project repository and PR 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FCD4C4-FD35-40A2-8FB8-48DC268A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338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github.com/Ayushprabhakar31/...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E74560-7F1F-4260-9F45-E06A7D96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482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F4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2BF4B"/>
                </a:solidFill>
                <a:latin typeface="Avenir Next"/>
                <a:ea typeface="Avenir Next"/>
                <a:cs typeface="Avenir Next"/>
              </a:rPr>
              <a:t>Live site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758E90-E585-44D4-873D-416E1309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public demo frontend + hosted backend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4EC9F1-6CEF-4EDC-A12B-BD785721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339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D9CB5"/>
                </a:solidFill>
                <a:latin typeface="Avenir Next"/>
                <a:ea typeface="Avenir Next"/>
                <a:cs typeface="Avenir Next"/>
              </a:rPr>
              <a:t>ayushprabhakar31.github.io/...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0255B2-9464-4926-8516-80850436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7"/>
          </a:solidFill>
          <a:ln xmlns:a="http://schemas.openxmlformats.org/drawingml/2006/main" w="0"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5E0F95-D8C9-46F7-9B98-B6BC3335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Closing | Q&amp;A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4361D1-49FD-407B-A9A6-2D84B0B2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8177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E87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5E6E87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7110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2026-05-11T23:50:05.3200000Z</dcterms:created>
  <dcterms:modified xsi:type="dcterms:W3CDTF">2026-05-11T23:50:05.3200000Z</dcterms:modified>
</coreProperties>
</file>